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this is the unified redesign of our four conversational-AI prototypes into one platform for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prototype proved an idea, but they shared nothing. The rewrite consolidates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experiences, one codebase, one design language. The streaming point matters: nothing in the UI waits for a full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FastAPI process serves the SPA and every API. Cloud voice services are an env-var upgrade, not a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corpus is real SIT web content. The hybrid retriever merges semantic and keyword hits, and the model is instructed to stay inside the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mouth is not an animation loop. It follows the actual audio playing, via a WebAudio analyser, which is why it stays in sync with any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 library accent tags proved unreliable, so every pick is auditioned by ear with the sample kit before it 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win is sentence streaming: the reply is spoken while the rest is still being generated, so perceived latency collapses.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in the demo is staged by hand. If the tests cannot drive the app through a scenario, it does not go in the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video here. The debate turn is the highlight: real speech recognition, an in-character rebuttal, and the avatar lip-syncing through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items build on what exists: the avatar tier swaps the renderer, the languages swap voices and STT models, the corpus swaps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offering the live demo. The platform is running and can take questions from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1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2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D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30300"/>
            <a:ext cx="105664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2F5F9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6750"/>
            <a:ext cx="10566400" cy="410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2F5F9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30300"/>
            <a:ext cx="105664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2F5F9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6750"/>
            <a:ext cx="10566400" cy="410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30300"/>
            <a:ext cx="105664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2F5F9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6750"/>
            <a:ext cx="10566400" cy="410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2F5F9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30300"/>
            <a:ext cx="105664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2F5F9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6750"/>
            <a:ext cx="10566400" cy="410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2F5F9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47825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SINGAPORE INSTITUTE OF TECHNOLOGY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30425"/>
            <a:ext cx="10883392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25"/>
              </a:lnSpc>
              <a:buNone/>
            </a:pPr>
            <a:r>
              <a:rPr lang="en-US" sz="6500" b="1" i="0" dirty="0">
                <a:solidFill>
                  <a:srgbClr val="F2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SIT AI Platform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812800" y="3248025"/>
            <a:ext cx="889508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conversational-AI home for the campus: a grounded assistant, a persona debate arena and voice mentoring, with lip-synced avatars and Singaporean voices.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5975" y="4572000"/>
            <a:ext cx="1465759" cy="431800"/>
          </a:xfrm>
          <a:prstGeom prst="roundRect">
            <a:avLst>
              <a:gd name="adj" fmla="val 50000"/>
            </a:avLst>
          </a:prstGeom>
          <a:solidFill>
            <a:srgbClr val="11243A"/>
          </a:solidFill>
          <a:ln w="6350">
            <a:solidFill>
              <a:srgbClr val="23435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🦦 Assistant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15084" y="4572000"/>
            <a:ext cx="1832173" cy="431800"/>
          </a:xfrm>
          <a:prstGeom prst="roundRect">
            <a:avLst>
              <a:gd name="adj" fmla="val 50000"/>
            </a:avLst>
          </a:prstGeom>
          <a:solidFill>
            <a:srgbClr val="11243A"/>
          </a:solidFill>
          <a:ln w="6350">
            <a:solidFill>
              <a:srgbClr val="23435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0AB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🎭 Debate Arena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0607" y="4572000"/>
            <a:ext cx="1925141" cy="431800"/>
          </a:xfrm>
          <a:prstGeom prst="roundRect">
            <a:avLst>
              <a:gd name="adj" fmla="val 50000"/>
            </a:avLst>
          </a:prstGeom>
          <a:solidFill>
            <a:srgbClr val="11243A"/>
          </a:solidFill>
          <a:ln w="6350">
            <a:solidFill>
              <a:srgbClr val="23435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🎧 Advisor Studio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STARTING POINT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03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Four prototypes, built apart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14525"/>
            <a:ext cx="2520950" cy="1162050"/>
          </a:xfrm>
          <a:prstGeom prst="roundRect">
            <a:avLst>
              <a:gd name="adj" fmla="val 10656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120900"/>
            <a:ext cx="217144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AI-debate-bot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2350" y="2425700"/>
            <a:ext cx="217144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debates with celebrity personas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95675" y="1914525"/>
            <a:ext cx="2520950" cy="1162050"/>
          </a:xfrm>
          <a:prstGeom prst="roundRect">
            <a:avLst>
              <a:gd name="adj" fmla="val 10656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2050" y="2120900"/>
            <a:ext cx="217144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SIT-chatbot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2050" y="2425700"/>
            <a:ext cx="217144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Otter-mascot Q&amp;A for the campus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5375" y="1914525"/>
            <a:ext cx="2520950" cy="1162050"/>
          </a:xfrm>
          <a:prstGeom prst="roundRect">
            <a:avLst>
              <a:gd name="adj" fmla="val 10656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1750" y="2120900"/>
            <a:ext cx="231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0AB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Institute-Chatbot-RAG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81750" y="2425700"/>
            <a:ext cx="217144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Retrieval-grounded SIT chat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55075" y="1914525"/>
            <a:ext cx="2520950" cy="1162050"/>
          </a:xfrm>
          <a:prstGeom prst="roundRect">
            <a:avLst>
              <a:gd name="adj" fmla="val 10656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1450" y="2120900"/>
            <a:ext cx="217144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Personality-Voice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61450" y="2425700"/>
            <a:ext cx="21714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Finance-advisor voice chat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5975" y="3362325"/>
            <a:ext cx="10560050" cy="1612900"/>
          </a:xfrm>
          <a:prstGeom prst="roundRect">
            <a:avLst>
              <a:gd name="adj" fmla="val 7677"/>
            </a:avLst>
          </a:prstGeom>
          <a:solidFill>
            <a:srgbClr val="1C1320"/>
          </a:solidFill>
          <a:ln w="6350">
            <a:solidFill>
              <a:srgbClr val="4C2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8550" y="3594100"/>
            <a:ext cx="1029474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DA4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that cost us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3132" y="3924300"/>
            <a:ext cx="10202545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70"/>
              </a:lnSpc>
              <a:buSzPct val="100000"/>
              <a:buChar char="•"/>
            </a:pPr>
            <a:r>
              <a:rPr lang="en-US" sz="1400" dirty="0">
                <a:solidFill>
                  <a:srgbClr val="D9C2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Roughly 16,000 lines of duplicated vanilla-JS across four backends doing the same job</a:t>
            </a:r>
            <a:endParaRPr lang="en-US" sz="1400" dirty="0"/>
          </a:p>
          <a:p>
            <a:pPr algn="l" marL="169418" indent="-169418">
              <a:lnSpc>
                <a:spcPts val="2170"/>
              </a:lnSpc>
              <a:buSzPct val="100000"/>
              <a:buChar char="•"/>
            </a:pPr>
            <a:r>
              <a:rPr lang="en-US" sz="1400" dirty="0">
                <a:solidFill>
                  <a:srgbClr val="D9C2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app locked to its own ElevenLabs dashboard agent, nothing ran without per-app setup</a:t>
            </a:r>
            <a:endParaRPr lang="en-US" sz="1400" dirty="0"/>
          </a:p>
          <a:p>
            <a:pPr algn="l" marL="169418" indent="-169418">
              <a:lnSpc>
                <a:spcPts val="2170"/>
              </a:lnSpc>
              <a:buSzPct val="100000"/>
              <a:buChar char="•"/>
            </a:pPr>
            <a:r>
              <a:rPr lang="en-US" sz="1400" dirty="0">
                <a:solidFill>
                  <a:srgbClr val="D9C2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tests, no shared design language, four deployments to babysit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REDESIGN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03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One platform, three experiences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9925"/>
            <a:ext cx="3397250" cy="3530600"/>
          </a:xfrm>
          <a:prstGeom prst="roundRect">
            <a:avLst>
              <a:gd name="adj" fmla="val 4393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pic>
        <p:nvPicPr>
          <p:cNvPr id="5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8550" y="2222500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8550" y="2705100"/>
            <a:ext cx="291706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2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Assistant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98550" y="3117850"/>
            <a:ext cx="2917063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Ollie the Otter anything about SIT. Answers are grounded in the real SIT website, cite their sources, and are spoken aloud.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97375" y="1939925"/>
            <a:ext cx="3397250" cy="3530600"/>
          </a:xfrm>
          <a:prstGeom prst="roundRect">
            <a:avLst>
              <a:gd name="adj" fmla="val 4393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pic>
        <p:nvPicPr>
          <p:cNvPr id="9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79950" y="2222500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79950" y="2705100"/>
            <a:ext cx="291706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2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Debate Arena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679950" y="3117850"/>
            <a:ext cx="2917063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Argue live, by voice, against Singapore's voices of society: statesman, pop idol, professor, kopitiam uncle.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978775" y="1939925"/>
            <a:ext cx="3397250" cy="3530600"/>
          </a:xfrm>
          <a:prstGeom prst="roundRect">
            <a:avLst>
              <a:gd name="adj" fmla="val 4393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pic>
        <p:nvPicPr>
          <p:cNvPr id="13" name="Image 2" descr="GraduationCa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61350" y="2222500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61350" y="2705100"/>
            <a:ext cx="291706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2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 Studio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8261350" y="3117850"/>
            <a:ext cx="2917063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One-on-one voice mentoring tuned for Singapore — CPF &amp; HDB finance, learning science and exam strategy.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12800" y="57785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streams: tokens, speech, and avatar motion.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03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Single process, end-to-end streaming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736850"/>
            <a:ext cx="2660650" cy="2305050"/>
          </a:xfrm>
          <a:prstGeom prst="roundRect">
            <a:avLst>
              <a:gd name="adj" fmla="val 6474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994025"/>
            <a:ext cx="22106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71575" y="3336925"/>
            <a:ext cx="2104644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575" indent="-155575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19 + Tailwind 4 SPA</a:t>
            </a:r>
            <a:endParaRPr lang="en-US" sz="1250" dirty="0"/>
          </a:p>
          <a:p>
            <a:pPr algn="l" marL="155575" indent="-155575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engine (SSE)</a:t>
            </a:r>
            <a:endParaRPr lang="en-US" sz="1250" dirty="0"/>
          </a:p>
          <a:p>
            <a:pPr algn="l" marL="155575" indent="-155575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Lip-synced SVG avatars via WebAudio</a:t>
            </a:r>
            <a:endParaRPr lang="en-US" sz="125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35350" y="3838575"/>
            <a:ext cx="660400" cy="10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054475" y="3098800"/>
            <a:ext cx="2533650" cy="1581150"/>
          </a:xfrm>
          <a:prstGeom prst="roundRect">
            <a:avLst>
              <a:gd name="adj" fmla="val 9438"/>
            </a:avLst>
          </a:prstGeom>
          <a:solidFill>
            <a:srgbClr val="0F2420"/>
          </a:solidFill>
          <a:ln w="6350">
            <a:solidFill>
              <a:srgbClr val="1D4A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11650" y="3355975"/>
            <a:ext cx="20798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410075" y="3698875"/>
            <a:ext cx="1973834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575" indent="-155575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SSE chat streaming</a:t>
            </a:r>
            <a:endParaRPr lang="en-US" sz="1250" dirty="0"/>
          </a:p>
          <a:p>
            <a:pPr algn="l" marL="155575" indent="-155575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STT / TTS endpoints</a:t>
            </a:r>
            <a:endParaRPr lang="en-US" sz="1250" dirty="0"/>
          </a:p>
          <a:p>
            <a:pPr algn="l" marL="155575" indent="-155575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Serves the built SPA</a:t>
            </a:r>
            <a:endParaRPr lang="en-US" sz="1250" dirty="0"/>
          </a:p>
        </p:txBody>
      </p:sp>
      <p:pic>
        <p:nvPicPr>
          <p:cNvPr id="11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46850" y="3838575"/>
            <a:ext cx="660400" cy="101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165975" y="2787650"/>
            <a:ext cx="2038350" cy="1035050"/>
          </a:xfrm>
          <a:prstGeom prst="roundRect">
            <a:avLst>
              <a:gd name="adj" fmla="val 10736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46950" y="2968625"/>
            <a:ext cx="172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RAG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346950" y="3222625"/>
            <a:ext cx="1727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LanceDB vectors + BM25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337675" y="2787650"/>
            <a:ext cx="2038350" cy="1035050"/>
          </a:xfrm>
          <a:prstGeom prst="roundRect">
            <a:avLst>
              <a:gd name="adj" fmla="val 10736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518650" y="2968625"/>
            <a:ext cx="172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· Ollama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9518650" y="3222625"/>
            <a:ext cx="1727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models, fast-turn routing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165975" y="3956050"/>
            <a:ext cx="2038350" cy="1035050"/>
          </a:xfrm>
          <a:prstGeom prst="roundRect">
            <a:avLst>
              <a:gd name="adj" fmla="val 10736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346950" y="4137025"/>
            <a:ext cx="172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ElevenLabs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7346950" y="4391025"/>
            <a:ext cx="1727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scribe STT + turbo TTS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9337675" y="3956050"/>
            <a:ext cx="2038350" cy="1035050"/>
          </a:xfrm>
          <a:prstGeom prst="roundRect">
            <a:avLst>
              <a:gd name="adj" fmla="val 10736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518650" y="4137025"/>
            <a:ext cx="172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fallback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9518650" y="4391025"/>
            <a:ext cx="17272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faster-whisper + Piper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12800" y="6242050"/>
            <a:ext cx="86550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cloud keys required: degrades gracefully to a fully local stack · deployed on the lab GPU server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03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Retrieval that holds up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90270" y="1911350"/>
            <a:ext cx="5592064" cy="2292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6530" indent="-17653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Crawler renders SIT pages in </a:t>
            </a:r>
            <a:r>
              <a:rPr lang="en-US" sz="1500" b="1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Chrome</a:t>
            </a:r>
            <a:r>
              <a:rPr lang="en-US" sz="150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(the site blocks plain HTTP)</a:t>
            </a:r>
            <a:endParaRPr lang="en-US" sz="1500" dirty="0"/>
          </a:p>
          <a:p>
            <a:pPr algn="l" marL="176530" indent="-17653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 chunked and indexed as </a:t>
            </a:r>
            <a:r>
              <a:rPr lang="en-US" sz="1500" b="1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LanceDB vectors + BM25</a:t>
            </a:r>
            <a:r>
              <a:rPr lang="en-US" sz="150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merged and deduped</a:t>
            </a:r>
            <a:endParaRPr lang="en-US" sz="1500" dirty="0"/>
          </a:p>
          <a:p>
            <a:pPr algn="l" marL="176530" indent="-17653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 abbreviation expander: IWSP, SNAIC, AAI, OIP</a:t>
            </a:r>
            <a:endParaRPr lang="en-US" sz="1500" dirty="0"/>
          </a:p>
          <a:p>
            <a:pPr algn="l" marL="176530" indent="-17653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answer </a:t>
            </a:r>
            <a:r>
              <a:rPr lang="en-US" sz="1500" b="1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cites its sources</a:t>
            </a:r>
            <a:r>
              <a:rPr lang="en-US" sz="150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on screen</a:t>
            </a:r>
            <a:endParaRPr lang="en-US" sz="1500" dirty="0"/>
          </a:p>
          <a:p>
            <a:pPr algn="l" marL="176530" indent="-17653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ready-built index ships with the repo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56375" y="1914525"/>
            <a:ext cx="4819650" cy="4127500"/>
          </a:xfrm>
          <a:prstGeom prst="roundRect">
            <a:avLst>
              <a:gd name="adj" fmla="val 3615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38950" y="2952750"/>
            <a:ext cx="4382135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i="1" dirty="0">
                <a:solidFill>
                  <a:srgbClr val="E7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"SIT offers… Accountancy, Aviation Management, Communications and Digital Media, Hospitality and Tourism Management, Food Business Management…"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38950" y="4273550"/>
            <a:ext cx="453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Grounded, not guessed. Straight from the live demo.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42125" y="4657725"/>
            <a:ext cx="1334492" cy="342900"/>
          </a:xfrm>
          <a:prstGeom prst="roundRect">
            <a:avLst>
              <a:gd name="adj" fmla="val 50000"/>
            </a:avLst>
          </a:prstGeom>
          <a:solidFill>
            <a:srgbClr val="0F2420"/>
          </a:solidFill>
          <a:ln w="6350">
            <a:solidFill>
              <a:srgbClr val="1D4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7700" y="4724400"/>
            <a:ext cx="107414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DB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🔗 admissions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71867" y="4657725"/>
            <a:ext cx="2088753" cy="342900"/>
          </a:xfrm>
          <a:prstGeom prst="roundRect">
            <a:avLst>
              <a:gd name="adj" fmla="val 50000"/>
            </a:avLst>
          </a:prstGeom>
          <a:solidFill>
            <a:srgbClr val="0F2420"/>
          </a:solidFill>
          <a:ln w="6350">
            <a:solidFill>
              <a:srgbClr val="1D4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27442" y="4724400"/>
            <a:ext cx="183093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DB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🔗 singaporetech.edu.sg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03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Characters that speak with real lip sync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397125"/>
            <a:ext cx="5193157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Semi-realistic </a:t>
            </a:r>
            <a:r>
              <a:rPr lang="en-US" sz="1450" b="1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parametric SVG characters</a:t>
            </a:r>
            <a:r>
              <a:rPr lang="en-US" sz="145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skull proportions, gradient skin, layered hair, clothing and age lines, with blinking, gaze drift and breathing.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15975" y="3403600"/>
            <a:ext cx="5035550" cy="1517650"/>
          </a:xfrm>
          <a:prstGeom prst="roundRect">
            <a:avLst>
              <a:gd name="adj" fmla="val 8159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5050" y="3622675"/>
            <a:ext cx="473532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Driven by the live audio signal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094" y="3921125"/>
            <a:ext cx="4629658" cy="80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Speech-energy envelope → jaw drop</a:t>
            </a:r>
            <a:endParaRPr lang="en-US" sz="1300" dirty="0"/>
          </a:p>
          <a:p>
            <a:pPr algn="l" marL="155956" indent="-1559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High-frequency share → lip spread</a:t>
            </a:r>
            <a:endParaRPr lang="en-US" sz="1300" dirty="0"/>
          </a:p>
          <a:p>
            <a:pPr algn="l" marL="155956" indent="-1559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Teeth and tongue revealed with openness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5089525"/>
            <a:ext cx="519315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in the browser at 60 fps, with zero server cost and zero added latency</a:t>
            </a:r>
            <a:endParaRPr lang="en-US" sz="1350" dirty="0"/>
          </a:p>
        </p:txBody>
      </p:sp>
      <p:pic>
        <p:nvPicPr>
          <p:cNvPr id="9" name="Image 0" descr="Ollie the Otter avatar speaking while answering a question with cited sources">    </p:cNvPr>
          <p:cNvPicPr>
            <a:picLocks noChangeAspect="1"/>
          </p:cNvPicPr>
          <p:nvPr/>
        </p:nvPicPr>
        <p:blipFill>
          <a:blip r:embed="rId1"/>
          <a:srcRect l="240" r="240" t="0" b="0"/>
          <a:stretch/>
        </p:blipFill>
        <p:spPr>
          <a:xfrm>
            <a:off x="6115050" y="2492375"/>
            <a:ext cx="5257800" cy="2971800"/>
          </a:xfrm>
          <a:prstGeom prst="roundRect">
            <a:avLst>
              <a:gd name="adj" fmla="val 4915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6111875" y="2489200"/>
            <a:ext cx="5264150" cy="2978150"/>
          </a:xfrm>
          <a:prstGeom prst="roundRect">
            <a:avLst>
              <a:gd name="adj" fmla="val 5011"/>
            </a:avLst>
          </a:prstGeom>
          <a:noFill/>
          <a:ln w="6350">
            <a:solidFill>
              <a:srgbClr val="22304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PROFILING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03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Singapore-first voices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11350"/>
            <a:ext cx="6400800" cy="2999581"/>
          </a:xfrm>
          <a:custGeom>
            <a:avLst/>
            <a:gdLst/>
            <a:ahLst/>
            <a:cxnLst/>
            <a:rect l="l" t="t" r="r" b="b"/>
            <a:pathLst>
              <a:path w="6400800" h="2999581">
                <a:moveTo>
                  <a:pt x="6299200" y="0"/>
                </a:moveTo>
                <a:lnTo>
                  <a:pt x="6299200" y="0"/>
                </a:lnTo>
                <a:arcTo hR="101600" wR="101600" stAng="16200000" swAng="5400000"/>
                <a:lnTo>
                  <a:pt x="6400800" y="2897981"/>
                </a:lnTo>
                <a:arcTo hR="101600" wR="101600" stAng="0" swAng="5400000"/>
                <a:lnTo>
                  <a:pt x="101600" y="2999581"/>
                </a:lnTo>
                <a:arcTo hR="101600" wR="101600" stAng="5400000" swAng="5400000"/>
                <a:lnTo>
                  <a:pt x="0" y="2897981"/>
                </a:lnTo>
                <a:arcTo hR="95250" wR="101600" stAng="10800000" swAng="-5400000"/>
                <a:lnTo>
                  <a:pt x="6299200" y="2993231"/>
                </a:lnTo>
                <a:arcTo hR="95250" wR="95250" stAng="5400000" swAng="-5400000"/>
                <a:lnTo>
                  <a:pt x="6394450" y="101600"/>
                </a:lnTo>
                <a:arcTo hR="101600" wR="95250" stAng="0" swAng="-5400000"/>
                <a:close/>
              </a:path>
            </a:pathLst>
          </a:custGeom>
          <a:solidFill>
            <a:srgbClr val="223049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11350"/>
            <a:ext cx="6400800" cy="2999581"/>
          </a:xfrm>
          <a:custGeom>
            <a:avLst/>
            <a:gdLst/>
            <a:ahLst/>
            <a:cxnLst/>
            <a:rect l="l" t="t" r="r" b="b"/>
            <a:pathLst>
              <a:path w="6400800" h="2999581">
                <a:moveTo>
                  <a:pt x="101600" y="2999581"/>
                </a:moveTo>
                <a:lnTo>
                  <a:pt x="101600" y="2999581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6299200" y="0"/>
                </a:lnTo>
                <a:arcTo hR="101600" wR="101600" stAng="16200000" swAng="5400000"/>
                <a:lnTo>
                  <a:pt x="6400800" y="101600"/>
                </a:lnTo>
                <a:arcTo hR="88900" wR="101600" stAng="0" swAng="-5400000"/>
                <a:lnTo>
                  <a:pt x="101600" y="12700"/>
                </a:lnTo>
                <a:arcTo hR="88900" wR="88900" stAng="16200000" swAng="-5400000"/>
                <a:lnTo>
                  <a:pt x="12700" y="2897981"/>
                </a:lnTo>
                <a:arcTo hR="101600" wR="88900" stAng="10800000" swAng="-5400000"/>
                <a:close/>
              </a:path>
            </a:pathLst>
          </a:custGeom>
          <a:solidFill>
            <a:srgbClr val="FAF9F5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24050"/>
          <a:ext cx="6381750" cy="2980531"/>
        </p:xfrm>
        <a:graphic>
          <a:graphicData uri="http://schemas.openxmlformats.org/drawingml/2006/table">
            <a:tbl>
              <a:tblPr/>
              <a:tblGrid>
                <a:gridCol w="2169795"/>
                <a:gridCol w="2552700"/>
                <a:gridCol w="1659255"/>
              </a:tblGrid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7DD3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Persona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7DD3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Voice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7DD3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Accent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Ollie · Assistant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Lexi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Singaporean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Singapore Uncle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David · Casual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Singaporean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7"/>
                    </a:solidFill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Mr. Tan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Gavin · Warm, Clear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Singaporean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Jia Hui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Cynthia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Singaporean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7"/>
                    </a:solidFill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Prof. Devi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Jane · Diplomatic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Singaporean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Dr. Mei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Emma · Warm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Singaporean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7"/>
                    </a:solidFill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Arjun · Finance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Gaurav · Professional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Indian English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45375" y="1914525"/>
            <a:ext cx="3930650" cy="1278434"/>
          </a:xfrm>
          <a:prstGeom prst="roundRect">
            <a:avLst>
              <a:gd name="adj" fmla="val 9686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64450" y="2133600"/>
            <a:ext cx="3597275" cy="193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1124" b="1" dirty="0">
                <a:solidFill>
                  <a:srgbClr val="F0AB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narration</a:t>
            </a:r>
            <a:endParaRPr lang="en-US" sz="1124" dirty="0"/>
          </a:p>
        </p:txBody>
      </p:sp>
      <p:sp>
        <p:nvSpPr>
          <p:cNvPr id="9" name="Text 6"/>
          <p:cNvSpPr/>
          <p:nvPr/>
        </p:nvSpPr>
        <p:spPr>
          <a:xfrm>
            <a:off x="7664450" y="2377877"/>
            <a:ext cx="3597275" cy="621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3"/>
              </a:lnSpc>
              <a:buNone/>
            </a:pPr>
            <a:r>
              <a:rPr lang="en-US" sz="1182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 conversational voices (Jack John and Abhi) are reserved for the voiceover, never the avatars.</a:t>
            </a:r>
            <a:endParaRPr lang="en-US" sz="1182" dirty="0"/>
          </a:p>
        </p:txBody>
      </p:sp>
      <p:sp>
        <p:nvSpPr>
          <p:cNvPr id="10" name="Shape 7"/>
          <p:cNvSpPr/>
          <p:nvPr/>
        </p:nvSpPr>
        <p:spPr>
          <a:xfrm>
            <a:off x="7445375" y="3339009"/>
            <a:ext cx="3930650" cy="1278434"/>
          </a:xfrm>
          <a:prstGeom prst="roundRect">
            <a:avLst>
              <a:gd name="adj" fmla="val 9686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64450" y="3558084"/>
            <a:ext cx="3597275" cy="193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1124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Audition kit</a:t>
            </a:r>
            <a:endParaRPr lang="en-US" sz="1124" dirty="0"/>
          </a:p>
        </p:txBody>
      </p:sp>
      <p:sp>
        <p:nvSpPr>
          <p:cNvPr id="12" name="Text 9"/>
          <p:cNvSpPr/>
          <p:nvPr/>
        </p:nvSpPr>
        <p:spPr>
          <a:xfrm>
            <a:off x="7664450" y="3802360"/>
            <a:ext cx="3597275" cy="621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1"/>
              </a:lnSpc>
              <a:buNone/>
            </a:pPr>
            <a:r>
              <a:rPr lang="en-US" sz="1174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sample clip per persona ships in the repo, so accents are verified by ear, not by library tags.</a:t>
            </a:r>
            <a:endParaRPr lang="en-US" sz="1174" dirty="0"/>
          </a:p>
        </p:txBody>
      </p:sp>
      <p:sp>
        <p:nvSpPr>
          <p:cNvPr id="13" name="Shape 10"/>
          <p:cNvSpPr/>
          <p:nvPr/>
        </p:nvSpPr>
        <p:spPr>
          <a:xfrm>
            <a:off x="7445375" y="4763492"/>
            <a:ext cx="3930650" cy="1278434"/>
          </a:xfrm>
          <a:prstGeom prst="roundRect">
            <a:avLst>
              <a:gd name="adj" fmla="val 9686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64450" y="4982567"/>
            <a:ext cx="3597275" cy="193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1124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API key?</a:t>
            </a:r>
            <a:endParaRPr lang="en-US" sz="1124" dirty="0"/>
          </a:p>
        </p:txBody>
      </p:sp>
      <p:sp>
        <p:nvSpPr>
          <p:cNvPr id="15" name="Text 12"/>
          <p:cNvSpPr/>
          <p:nvPr/>
        </p:nvSpPr>
        <p:spPr>
          <a:xfrm>
            <a:off x="7664450" y="5226844"/>
            <a:ext cx="3597275" cy="621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8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Piper + faster-whisper take over automatically. The platform never goes silent.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 ENGINEERING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03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It answers before you expect it 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880618"/>
            <a:ext cx="7010400" cy="2195314"/>
          </a:xfrm>
          <a:custGeom>
            <a:avLst/>
            <a:gdLst/>
            <a:ahLst/>
            <a:cxnLst/>
            <a:rect l="l" t="t" r="r" b="b"/>
            <a:pathLst>
              <a:path w="7010400" h="2195314">
                <a:moveTo>
                  <a:pt x="6908800" y="0"/>
                </a:moveTo>
                <a:lnTo>
                  <a:pt x="6908800" y="0"/>
                </a:lnTo>
                <a:arcTo hR="101600" wR="101600" stAng="16200000" swAng="5400000"/>
                <a:lnTo>
                  <a:pt x="7010400" y="2093714"/>
                </a:lnTo>
                <a:arcTo hR="101600" wR="101600" stAng="0" swAng="5400000"/>
                <a:lnTo>
                  <a:pt x="101600" y="2195314"/>
                </a:lnTo>
                <a:arcTo hR="101600" wR="101600" stAng="5400000" swAng="5400000"/>
                <a:lnTo>
                  <a:pt x="0" y="2093714"/>
                </a:lnTo>
                <a:arcTo hR="95250" wR="101600" stAng="10800000" swAng="-5400000"/>
                <a:lnTo>
                  <a:pt x="6908800" y="2188964"/>
                </a:lnTo>
                <a:arcTo hR="95250" wR="95250" stAng="5400000" swAng="-5400000"/>
                <a:lnTo>
                  <a:pt x="7004050" y="101600"/>
                </a:lnTo>
                <a:arcTo hR="101600" wR="95250" stAng="0" swAng="-5400000"/>
                <a:close/>
              </a:path>
            </a:pathLst>
          </a:custGeom>
          <a:solidFill>
            <a:srgbClr val="223049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880618"/>
            <a:ext cx="7010400" cy="2195314"/>
          </a:xfrm>
          <a:custGeom>
            <a:avLst/>
            <a:gdLst/>
            <a:ahLst/>
            <a:cxnLst/>
            <a:rect l="l" t="t" r="r" b="b"/>
            <a:pathLst>
              <a:path w="7010400" h="2195314">
                <a:moveTo>
                  <a:pt x="101600" y="2195314"/>
                </a:moveTo>
                <a:lnTo>
                  <a:pt x="101600" y="2195314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6908800" y="0"/>
                </a:lnTo>
                <a:arcTo hR="101600" wR="101600" stAng="16200000" swAng="5400000"/>
                <a:lnTo>
                  <a:pt x="7010400" y="101600"/>
                </a:lnTo>
                <a:arcTo hR="88900" wR="101600" stAng="0" swAng="-5400000"/>
                <a:lnTo>
                  <a:pt x="101600" y="12700"/>
                </a:lnTo>
                <a:arcTo hR="88900" wR="88900" stAng="16200000" swAng="-5400000"/>
                <a:lnTo>
                  <a:pt x="12700" y="2093714"/>
                </a:lnTo>
                <a:arcTo hR="101600" wR="88900" stAng="10800000" swAng="-5400000"/>
                <a:close/>
              </a:path>
            </a:pathLst>
          </a:custGeom>
          <a:solidFill>
            <a:srgbClr val="FAF9F5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893318"/>
          <a:ext cx="6991350" cy="2176264"/>
        </p:xfrm>
        <a:graphic>
          <a:graphicData uri="http://schemas.openxmlformats.org/drawingml/2006/table">
            <a:tbl>
              <a:tblPr/>
              <a:tblGrid>
                <a:gridCol w="3635502"/>
                <a:gridCol w="3355848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7DD3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Technique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7DD3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Effect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63242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Sentence-streamed speech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3F4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Speaking starts after the first sentence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3F4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Warm models, kept alive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cold start on the first question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7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Fast-model routing for short turns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3F4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Full debate reply in about 1.5 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3F4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Turbo TTS + SSE token streaming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D7E0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Audio begins while text still streams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80375" y="2838450"/>
            <a:ext cx="3295650" cy="2279650"/>
          </a:xfrm>
          <a:prstGeom prst="roundRect">
            <a:avLst>
              <a:gd name="adj" fmla="val 7660"/>
            </a:avLst>
          </a:prstGeom>
          <a:gradFill rotWithShape="1">
            <a:gsLst>
              <a:gs pos="0">
                <a:srgbClr val="103531"/>
              </a:gs>
              <a:gs pos="70000">
                <a:srgbClr val="0F1A2E"/>
              </a:gs>
            </a:gsLst>
            <a:path path="circle">
              <a:fillToRect l="30000" t="20000" r="70000" b="80000"/>
            </a:path>
          </a:gradFill>
          <a:ln w="6350">
            <a:solidFill>
              <a:srgbClr val="1D4A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07465" y="3197225"/>
            <a:ext cx="2241471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5EEA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~2 s</a:t>
            </a:r>
            <a:endParaRPr lang="en-US" sz="7500" dirty="0"/>
          </a:p>
        </p:txBody>
      </p:sp>
      <p:sp>
        <p:nvSpPr>
          <p:cNvPr id="9" name="Text 6"/>
          <p:cNvSpPr/>
          <p:nvPr/>
        </p:nvSpPr>
        <p:spPr>
          <a:xfrm>
            <a:off x="8400479" y="4225925"/>
            <a:ext cx="26554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send to first spoken audio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03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Tested end-to-end, by a real browser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14525"/>
            <a:ext cx="3397250" cy="1968500"/>
          </a:xfrm>
          <a:prstGeom prst="roundRect">
            <a:avLst>
              <a:gd name="adj" fmla="val 7581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8183" y="2197100"/>
            <a:ext cx="187273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5EEA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12/12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56069" y="2895600"/>
            <a:ext cx="291706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E2E checks passing, driven with a fake microphone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7375" y="1914525"/>
            <a:ext cx="3397250" cy="1968500"/>
          </a:xfrm>
          <a:prstGeom prst="roundRect">
            <a:avLst>
              <a:gd name="adj" fmla="val 7581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63352" y="2197100"/>
            <a:ext cx="465296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7DD3F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637468" y="2895600"/>
            <a:ext cx="2917063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deployments under the same smoke suite: local and the GPU server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78775" y="1914525"/>
            <a:ext cx="3397250" cy="1968500"/>
          </a:xfrm>
          <a:prstGeom prst="roundRect">
            <a:avLst>
              <a:gd name="adj" fmla="val 7581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0947" y="2197100"/>
            <a:ext cx="245280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0ABF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1080p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218868" y="2895600"/>
            <a:ext cx="291706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video produced by the same automation that tests the app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97001" y="4165600"/>
            <a:ext cx="10791571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799" indent="-169799">
              <a:lnSpc>
                <a:spcPts val="2465"/>
              </a:lnSpc>
              <a:buSzPct val="100000"/>
              <a:buChar char="•"/>
            </a:pPr>
            <a:r>
              <a:rPr lang="en-US" sz="145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E2E suite exercises the full voice loop: speak, transcribe, reply, summarize</a:t>
            </a:r>
            <a:endParaRPr lang="en-US" sz="1450" dirty="0"/>
          </a:p>
          <a:p>
            <a:pPr algn="l" marL="169799" indent="-169799">
              <a:lnSpc>
                <a:spcPts val="2465"/>
              </a:lnSpc>
              <a:buSzPct val="100000"/>
              <a:buChar char="•"/>
            </a:pPr>
            <a:r>
              <a:rPr lang="en-US" sz="145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also verifies RAG citations, the first-audio latency budget and console hygiene</a:t>
            </a:r>
            <a:endParaRPr lang="en-US" sz="1450" dirty="0"/>
          </a:p>
          <a:p>
            <a:pPr algn="l" marL="169799" indent="-169799">
              <a:lnSpc>
                <a:spcPts val="2465"/>
              </a:lnSpc>
              <a:buSzPct val="100000"/>
              <a:buChar char="•"/>
            </a:pPr>
            <a:r>
              <a:rPr lang="en-US" sz="145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soundtrack is rebuilt from real captured voices, with overlap-free narration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03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Three minutes, every feature live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43359" y="2816225"/>
            <a:ext cx="5154978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441" indent="-223441">
              <a:lnSpc>
                <a:spcPts val="26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Home: the three experiences</a:t>
            </a:r>
            <a:endParaRPr lang="en-US" sz="1500" dirty="0"/>
          </a:p>
          <a:p>
            <a:pPr algn="l" marL="223441" indent="-223441">
              <a:lnSpc>
                <a:spcPts val="26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Assistant: grounded answer, cited sources, spoken in sync</a:t>
            </a:r>
            <a:endParaRPr lang="en-US" sz="1500" dirty="0"/>
          </a:p>
          <a:p>
            <a:pPr algn="l" marL="223441" indent="-223441">
              <a:lnSpc>
                <a:spcPts val="26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Debate: Uncle opens, the user argues back by voice</a:t>
            </a:r>
            <a:endParaRPr lang="en-US" sz="1500" dirty="0"/>
          </a:p>
          <a:p>
            <a:pPr algn="l" marL="223441" indent="-223441">
              <a:lnSpc>
                <a:spcPts val="26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One-tap summary of the whole exchange</a:t>
            </a:r>
            <a:endParaRPr lang="en-US" sz="1500" dirty="0"/>
          </a:p>
          <a:p>
            <a:pPr algn="l" marL="223441" indent="-223441">
              <a:lnSpc>
                <a:spcPts val="26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D7E0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Advisor: a CPF mentoring session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4911725"/>
            <a:ext cx="529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Narrated end to end, with the product's real voices underneath</a:t>
            </a:r>
            <a:endParaRPr lang="en-US" sz="1300" dirty="0"/>
          </a:p>
        </p:txBody>
      </p:sp>
      <p:pic>
        <p:nvPicPr>
          <p:cNvPr id="6" name="Image 0" descr="Live debate with Singapore Uncle, user speaking, transcript on the right">    </p:cNvPr>
          <p:cNvPicPr>
            <a:picLocks noChangeAspect="1"/>
          </p:cNvPicPr>
          <p:nvPr/>
        </p:nvPicPr>
        <p:blipFill>
          <a:blip r:embed="rId1"/>
          <a:srcRect l="240" r="240" t="0" b="0"/>
          <a:stretch/>
        </p:blipFill>
        <p:spPr>
          <a:xfrm>
            <a:off x="6115050" y="2492375"/>
            <a:ext cx="5257800" cy="2971800"/>
          </a:xfrm>
          <a:prstGeom prst="roundRect">
            <a:avLst>
              <a:gd name="adj" fmla="val 4915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111875" y="2489200"/>
            <a:ext cx="5264150" cy="2978150"/>
          </a:xfrm>
          <a:prstGeom prst="roundRect">
            <a:avLst>
              <a:gd name="adj" fmla="val 5011"/>
            </a:avLst>
          </a:prstGeom>
          <a:noFill/>
          <a:ln w="6350">
            <a:solidFill>
              <a:srgbClr val="223049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03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Where this goes next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9925"/>
            <a:ext cx="5187950" cy="1958975"/>
          </a:xfrm>
          <a:prstGeom prst="roundRect">
            <a:avLst>
              <a:gd name="adj" fmla="val 7618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97100"/>
            <a:ext cx="48138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Photoreal talking heads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2527300"/>
            <a:ext cx="481380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Lip-sync models running on the lab GPUs, or streaming avatar APIs, as a premium avatar tier.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88075" y="1939925"/>
            <a:ext cx="5187950" cy="1958975"/>
          </a:xfrm>
          <a:prstGeom prst="roundRect">
            <a:avLst>
              <a:gd name="adj" fmla="val 7618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5250" y="2197100"/>
            <a:ext cx="48138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voice loops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5250" y="2527300"/>
            <a:ext cx="481380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Mandarin, Malay and Tamil speech in and out, matching Singapore's language landscape.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5975" y="4083050"/>
            <a:ext cx="5187950" cy="1958975"/>
          </a:xfrm>
          <a:prstGeom prst="roundRect">
            <a:avLst>
              <a:gd name="adj" fmla="val 7618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3150" y="4340225"/>
            <a:ext cx="48138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AB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larger, fresher corpus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3150" y="4670425"/>
            <a:ext cx="481380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Nightly re-crawl of the SIT site and a wider page set, so answers stay current by themselves.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88075" y="4083050"/>
            <a:ext cx="5187950" cy="1958975"/>
          </a:xfrm>
          <a:prstGeom prst="roundRect">
            <a:avLst>
              <a:gd name="adj" fmla="val 7618"/>
            </a:avLst>
          </a:prstGeom>
          <a:solidFill>
            <a:srgbClr val="101A2D"/>
          </a:solidFill>
          <a:ln w="6350">
            <a:solidFill>
              <a:srgbClr val="2230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5250" y="4340225"/>
            <a:ext cx="48138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Campus kiosk mode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5250" y="4670425"/>
            <a:ext cx="481380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walk-up, hands-free configuration with usage analytics for open houses and the library.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3269942" y="2352675"/>
            <a:ext cx="5652016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350"/>
              </a:lnSpc>
              <a:buNone/>
            </a:pPr>
            <a:r>
              <a:rPr lang="en-US" sz="7000" b="1" i="0" dirty="0">
                <a:solidFill>
                  <a:srgbClr val="F2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Thank you</a:t>
            </a:r>
            <a:endParaRPr lang="en-US" sz="7000" dirty="0"/>
          </a:p>
        </p:txBody>
      </p:sp>
      <p:sp>
        <p:nvSpPr>
          <p:cNvPr id="3" name="Text 1"/>
          <p:cNvSpPr/>
          <p:nvPr/>
        </p:nvSpPr>
        <p:spPr>
          <a:xfrm>
            <a:off x="2171700" y="3514725"/>
            <a:ext cx="7848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B6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SIT AI Platform: built for Singapore, ready for the campus.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322340" y="4083050"/>
            <a:ext cx="2041624" cy="419100"/>
          </a:xfrm>
          <a:prstGeom prst="roundRect">
            <a:avLst>
              <a:gd name="adj" fmla="val 50000"/>
            </a:avLst>
          </a:prstGeom>
          <a:solidFill>
            <a:srgbClr val="11243A"/>
          </a:solidFill>
          <a:ln w="6350">
            <a:solidFill>
              <a:srgbClr val="234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28715" y="4175125"/>
            <a:ext cx="1679674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available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97314" y="4083050"/>
            <a:ext cx="3372346" cy="419100"/>
          </a:xfrm>
          <a:prstGeom prst="roundRect">
            <a:avLst>
              <a:gd name="adj" fmla="val 50000"/>
            </a:avLst>
          </a:prstGeom>
          <a:solidFill>
            <a:srgbClr val="11243A"/>
          </a:solidFill>
          <a:ln w="6350">
            <a:solidFill>
              <a:srgbClr val="2343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03689" y="4175125"/>
            <a:ext cx="3048384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source + video in the repository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T AI Platform">
  <a:themeElements>
    <a:clrScheme name="SIT AI Platform">
      <a:dk1>
        <a:srgbClr val="0D1322"/>
      </a:dk1>
      <a:lt1>
        <a:srgbClr val="F2F5F9"/>
      </a:lt1>
      <a:dk2>
        <a:srgbClr val="242A38"/>
      </a:dk2>
      <a:lt2>
        <a:srgbClr val="B9BDC3"/>
      </a:lt2>
      <a:accent1>
        <a:srgbClr val="5EEAD4"/>
      </a:accent1>
      <a:accent2>
        <a:srgbClr val="2DD4BF"/>
      </a:accent2>
      <a:accent3>
        <a:srgbClr val="7DD3FC"/>
      </a:accent3>
      <a:accent4>
        <a:srgbClr val="FCD34D"/>
      </a:accent4>
      <a:accent5>
        <a:srgbClr val="F0ABFC"/>
      </a:accent5>
      <a:accent6>
        <a:srgbClr val="9ADBC9"/>
      </a:accent6>
      <a:hlink>
        <a:srgbClr val="0563C1"/>
      </a:hlink>
      <a:folHlink>
        <a:srgbClr val="954F72"/>
      </a:folHlink>
    </a:clrScheme>
    <a:fontScheme name="SIT AI Platform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 AI Platform</dc:title>
  <dc:subject/>
  <dc:creator/>
  <cp:lastModifiedBy/>
  <cp:revision>1</cp:revision>
  <dcterms:created xsi:type="dcterms:W3CDTF">2026-10-07T05:15:24Z</dcterms:created>
  <dcterms:modified xsi:type="dcterms:W3CDTF">2026-10-07T05:15:24Z</dcterms:modified>
</cp:coreProperties>
</file>